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08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started as a simple habit tracker, but I deliberately improved it into a productivity and habit analytics API so it would go beyond basic CRUD. In this presentation I will explain the problem, the data model, the main endpoints, how testing was done, and how Generative AI was used in a transparent way. The goal is to show both the implementation quality and the design decisions behind it.
[Sources]
- COMP3011_Coursework1_Brief__2025_2026.pdf
- 18eca8aa-3ab9-4472-930e-cecf37e7eaa5.png (saved Postman request screenshot)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would explain the main project decision. I started with the idea of a basic habit tracker, but that felt too safe. The stronger version was to turn it into a productivity and habit analytics API. That is why I introduced the second model, HabitLog, and added streak analytics. This made the project more relational, more data-driven, and easier to justify as a higher-quality API rather than only a CRUD example.
[Sources]
- COMP3011_Coursework1_Brief__2025_2026.pdf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main architecture. The Habit model stores the tracked activity itself. HabitLog stores dated completion events and links back to Habit through a foreign key. That relationship is what enables me to return log histories and calculate a current streak. I would emphasise that this was the key decision that moved the project from a single-table design to a small relational analytics system.
[Sources]
- COMP3011_Technical_Report_appendix.docx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API surface. The left side is the core CRUD behaviour for habits. The right side is the part that makes the project more advanced: completion logs and the streak endpoint. In the viva I would explain that the streak logic checks the saved completion dates and counts consecutive days from the current date backwards. That means the API is not only storing data; it is also deriving useful behavioural information from it.
[Sources]
- fa8a87f9-41a9-4bec-837d-f7dbb406f1e8.png (streak endpoint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would show that the project is not just code but a complete submission package. The screenshot on the left is the automated Django test result, where all 7 tests pass. On the right I would highlight the repository evidence: the public GitHub history, the README, the API documentation PDF, and the report. This slide is important because the brief makes it clear that documentation, version control and testing matter alongside implementation.
[Sources]
- COMP3011_Coursework1_Brief__2025_2026.pdf
- 5b528d70-48a3-4f6f-b0eb-e518a91e3689.png (test output screenshot)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finish by reflecting on the project. The most important message is that the work evolved into a relational analytics API, not just a basic CRUD tracker. I would also be transparent about GenAI: I brought the initial idea, ChatGPT helped refine the design, testing approach and documentation, and I manually implemented and integrated the code. In the Q and A I would be ready to explain the architecture, streak logic, testing strategy, and the limitations of the current prototype.
[Sources]
- COMP3011_Technical_Report_appendix.docx
- COMP3011_Coursework1_Brief__2025_2026.pdf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94360" y="1097280"/>
            <a:ext cx="5943600" cy="1097280"/>
          </a:xfrm>
          <a:prstGeom prst="rect">
            <a:avLst/>
          </a:prstGeom>
          <a:noFill/>
          <a:ln/>
        </p:spPr>
        <p:txBody>
          <a:bodyPr wrap="square" lIns="0" tIns="0" rIns="0" bIns="0" rtlCol="0" anchor="ctr"/>
          <a:lstStyle/>
          <a:p>
            <a:pPr marL="0" indent="0">
              <a:buNone/>
            </a:pPr>
            <a:r>
              <a:rPr lang="en-US" sz="2600" b="1" dirty="0">
                <a:solidFill>
                  <a:srgbClr val="143B66"/>
                </a:solidFill>
                <a:latin typeface="Aptos Display" pitchFamily="34" charset="0"/>
                <a:ea typeface="Aptos Display" pitchFamily="34" charset="-122"/>
                <a:cs typeface="Aptos Display" pitchFamily="34" charset="-120"/>
              </a:rPr>
              <a:t>Productivity and Habit</a:t>
            </a:r>
            <a:endParaRPr lang="en-US" sz="2600" dirty="0"/>
          </a:p>
          <a:p>
            <a:pPr marL="0" indent="0">
              <a:buNone/>
            </a:pPr>
            <a:r>
              <a:rPr lang="en-US" sz="2600" b="1" dirty="0">
                <a:solidFill>
                  <a:srgbClr val="143B66"/>
                </a:solidFill>
                <a:latin typeface="Aptos Display" pitchFamily="34" charset="0"/>
                <a:ea typeface="Aptos Display" pitchFamily="34" charset="-122"/>
                <a:cs typeface="Aptos Display" pitchFamily="34" charset="-120"/>
              </a:rPr>
              <a:t>Analytics API</a:t>
            </a:r>
            <a:endParaRPr lang="en-US" sz="2600" dirty="0"/>
          </a:p>
        </p:txBody>
      </p:sp>
      <p:sp>
        <p:nvSpPr>
          <p:cNvPr id="5" name="Text 3"/>
          <p:cNvSpPr/>
          <p:nvPr/>
        </p:nvSpPr>
        <p:spPr>
          <a:xfrm>
            <a:off x="621792" y="2286000"/>
            <a:ext cx="3931920" cy="502920"/>
          </a:xfrm>
          <a:prstGeom prst="rect">
            <a:avLst/>
          </a:prstGeom>
          <a:noFill/>
          <a:ln/>
        </p:spPr>
        <p:txBody>
          <a:bodyPr wrap="square" lIns="0" tIns="0" rIns="0" bIns="0" rtlCol="0" anchor="ctr"/>
          <a:lstStyle/>
          <a:p>
            <a:pPr marL="0" indent="0">
              <a:buNone/>
            </a:pPr>
            <a:r>
              <a:rPr lang="en-US" sz="1400" dirty="0">
                <a:solidFill>
                  <a:srgbClr val="5C6773"/>
                </a:solidFill>
                <a:latin typeface="Aptos" pitchFamily="34" charset="0"/>
                <a:ea typeface="Aptos" pitchFamily="34" charset="-122"/>
                <a:cs typeface="Aptos" pitchFamily="34" charset="-120"/>
              </a:rPr>
              <a:t>COMP3011 Coursework 1 oral presentation</a:t>
            </a:r>
            <a:endParaRPr lang="en-US" sz="1400" dirty="0"/>
          </a:p>
          <a:p>
            <a:pPr marL="0" indent="0">
              <a:buNone/>
            </a:pPr>
            <a:r>
              <a:rPr lang="en-US" sz="1400" dirty="0">
                <a:solidFill>
                  <a:srgbClr val="5C6773"/>
                </a:solidFill>
                <a:latin typeface="Aptos" pitchFamily="34" charset="0"/>
                <a:ea typeface="Aptos" pitchFamily="34" charset="-122"/>
                <a:cs typeface="Aptos" pitchFamily="34" charset="-120"/>
              </a:rPr>
              <a:t>5-minute summary</a:t>
            </a:r>
            <a:endParaRPr lang="en-US" sz="1400" dirty="0"/>
          </a:p>
        </p:txBody>
      </p:sp>
      <p:sp>
        <p:nvSpPr>
          <p:cNvPr id="6" name="Shape 4"/>
          <p:cNvSpPr/>
          <p:nvPr/>
        </p:nvSpPr>
        <p:spPr>
          <a:xfrm>
            <a:off x="621792" y="3063240"/>
            <a:ext cx="2926080" cy="566928"/>
          </a:xfrm>
          <a:prstGeom prst="roundRect">
            <a:avLst>
              <a:gd name="adj" fmla="val 12903"/>
            </a:avLst>
          </a:prstGeom>
          <a:solidFill>
            <a:srgbClr val="EAF2FB"/>
          </a:solidFill>
          <a:ln w="12700">
            <a:solidFill>
              <a:srgbClr val="D9E3EE"/>
            </a:solidFill>
            <a:prstDash val="solid"/>
          </a:ln>
          <a:effectLst>
            <a:outerShdw blurRad="12700" dist="7620" dir="2700000" algn="bl" rotWithShape="0">
              <a:srgbClr val="000000">
                <a:alpha val="12000"/>
              </a:srgbClr>
            </a:outerShdw>
          </a:effectLst>
        </p:spPr>
        <p:txBody>
          <a:bodyPr/>
          <a:lstStyle/>
          <a:p>
            <a:endParaRPr lang="en-GB"/>
          </a:p>
        </p:txBody>
      </p:sp>
      <p:sp>
        <p:nvSpPr>
          <p:cNvPr id="7" name="Text 5"/>
          <p:cNvSpPr/>
          <p:nvPr/>
        </p:nvSpPr>
        <p:spPr>
          <a:xfrm>
            <a:off x="822960" y="3227832"/>
            <a:ext cx="2560320" cy="201168"/>
          </a:xfrm>
          <a:prstGeom prst="rect">
            <a:avLst/>
          </a:prstGeom>
          <a:noFill/>
          <a:ln/>
        </p:spPr>
        <p:txBody>
          <a:bodyPr wrap="square" lIns="0" tIns="0" rIns="0" bIns="0" rtlCol="0" anchor="ctr"/>
          <a:lstStyle/>
          <a:p>
            <a:pPr marL="0" indent="0" algn="ctr">
              <a:buNone/>
            </a:pPr>
            <a:r>
              <a:rPr lang="en-US" sz="1150" b="1" dirty="0">
                <a:solidFill>
                  <a:srgbClr val="1F1F1F"/>
                </a:solidFill>
              </a:rPr>
              <a:t>Focus: architecture, analytics, testing, and GenAI reflection</a:t>
            </a:r>
            <a:endParaRPr lang="en-US" sz="1150" dirty="0"/>
          </a:p>
        </p:txBody>
      </p:sp>
      <p:pic>
        <p:nvPicPr>
          <p:cNvPr id="8" name="Image 0" descr="/mnt/data/18eca8aa-3ab9-4472-930e-cecf37e7eaa5.png"/>
          <p:cNvPicPr>
            <a:picLocks noChangeAspect="1"/>
          </p:cNvPicPr>
          <p:nvPr/>
        </p:nvPicPr>
        <p:blipFill>
          <a:blip r:embed="rId3"/>
          <a:srcRect l="15384" r="15384"/>
          <a:stretch/>
        </p:blipFill>
        <p:spPr>
          <a:xfrm>
            <a:off x="6720840" y="914400"/>
            <a:ext cx="4846320" cy="4937760"/>
          </a:xfrm>
          <a:prstGeom prst="rect">
            <a:avLst/>
          </a:prstGeom>
        </p:spPr>
      </p:pic>
      <p:sp>
        <p:nvSpPr>
          <p:cNvPr id="9" name="Text 6"/>
          <p:cNvSpPr/>
          <p:nvPr/>
        </p:nvSpPr>
        <p:spPr>
          <a:xfrm>
            <a:off x="640080" y="5303520"/>
            <a:ext cx="4846320" cy="411480"/>
          </a:xfrm>
          <a:prstGeom prst="rect">
            <a:avLst/>
          </a:prstGeom>
          <a:noFill/>
          <a:ln/>
        </p:spPr>
        <p:txBody>
          <a:bodyPr wrap="square" rtlCol="0" anchor="ctr"/>
          <a:lstStyle/>
          <a:p>
            <a:pPr marL="0" indent="0">
              <a:buNone/>
            </a:pPr>
            <a:r>
              <a:rPr lang="en-US" sz="1200" dirty="0">
                <a:solidFill>
                  <a:srgbClr val="1F1F1F"/>
                </a:solidFill>
              </a:rPr>
              <a:t>Name: Yamen Alazwary</a:t>
            </a:r>
            <a:endParaRPr lang="en-US" sz="1200" dirty="0"/>
          </a:p>
          <a:p>
            <a:pPr marL="0" indent="0">
              <a:buNone/>
            </a:pPr>
            <a:r>
              <a:rPr lang="en-US" sz="1200" dirty="0">
                <a:solidFill>
                  <a:srgbClr val="1F1F1F"/>
                </a:solidFill>
              </a:rPr>
              <a:t>Repo: github.com/Yoms24/comp3011-productivity-api</a:t>
            </a:r>
            <a:endParaRPr lang="en-US" sz="1200" dirty="0"/>
          </a:p>
        </p:txBody>
      </p:sp>
      <p:sp>
        <p:nvSpPr>
          <p:cNvPr id="10" name="Text 7"/>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02920" y="457200"/>
            <a:ext cx="8138160" cy="411480"/>
          </a:xfrm>
          <a:prstGeom prst="rect">
            <a:avLst/>
          </a:prstGeom>
          <a:noFill/>
          <a:ln/>
        </p:spPr>
        <p:txBody>
          <a:bodyPr wrap="square" lIns="0" tIns="0" rIns="0" bIns="0" rtlCol="0" anchor="ctr"/>
          <a:lstStyle/>
          <a:p>
            <a:pPr marL="0" indent="0">
              <a:buNone/>
            </a:pPr>
            <a:r>
              <a:rPr lang="en-US" sz="2500" b="1" dirty="0">
                <a:solidFill>
                  <a:srgbClr val="143B66"/>
                </a:solidFill>
                <a:latin typeface="Aptos Display" pitchFamily="34" charset="0"/>
                <a:ea typeface="Aptos Display" pitchFamily="34" charset="-122"/>
                <a:cs typeface="Aptos Display" pitchFamily="34" charset="-120"/>
              </a:rPr>
              <a:t>What I built and why</a:t>
            </a:r>
            <a:endParaRPr lang="en-US" sz="2500" dirty="0"/>
          </a:p>
        </p:txBody>
      </p:sp>
      <p:sp>
        <p:nvSpPr>
          <p:cNvPr id="5" name="Text 3"/>
          <p:cNvSpPr/>
          <p:nvPr/>
        </p:nvSpPr>
        <p:spPr>
          <a:xfrm>
            <a:off x="502920" y="896112"/>
            <a:ext cx="8138160" cy="228600"/>
          </a:xfrm>
          <a:prstGeom prst="rect">
            <a:avLst/>
          </a:prstGeom>
          <a:noFill/>
          <a:ln/>
        </p:spPr>
        <p:txBody>
          <a:bodyPr wrap="square" lIns="0" tIns="0" rIns="0" bIns="0" rtlCol="0" anchor="ctr"/>
          <a:lstStyle/>
          <a:p>
            <a:pPr marL="0" indent="0">
              <a:buNone/>
            </a:pPr>
            <a:r>
              <a:rPr lang="en-US" sz="1150" dirty="0">
                <a:solidFill>
                  <a:srgbClr val="5C6773"/>
                </a:solidFill>
                <a:latin typeface="Aptos" pitchFamily="34" charset="0"/>
                <a:ea typeface="Aptos" pitchFamily="34" charset="-122"/>
                <a:cs typeface="Aptos" pitchFamily="34" charset="-120"/>
              </a:rPr>
              <a:t>How the project was pushed beyond minimum CRUD</a:t>
            </a:r>
            <a:endParaRPr lang="en-US" sz="1150" dirty="0"/>
          </a:p>
        </p:txBody>
      </p:sp>
      <p:sp>
        <p:nvSpPr>
          <p:cNvPr id="6" name="Shape 4"/>
          <p:cNvSpPr/>
          <p:nvPr/>
        </p:nvSpPr>
        <p:spPr>
          <a:xfrm>
            <a:off x="594360" y="1234440"/>
            <a:ext cx="5303520" cy="4480560"/>
          </a:xfrm>
          <a:prstGeom prst="roundRect">
            <a:avLst>
              <a:gd name="adj" fmla="val 1224"/>
            </a:avLst>
          </a:prstGeom>
          <a:solidFill>
            <a:srgbClr val="F6F9FC"/>
          </a:solidFill>
          <a:ln w="12700">
            <a:solidFill>
              <a:srgbClr val="D9E3EE"/>
            </a:solidFill>
            <a:prstDash val="solid"/>
          </a:ln>
        </p:spPr>
        <p:txBody>
          <a:bodyPr/>
          <a:lstStyle/>
          <a:p>
            <a:endParaRPr lang="en-GB"/>
          </a:p>
        </p:txBody>
      </p:sp>
      <p:sp>
        <p:nvSpPr>
          <p:cNvPr id="7" name="Text 5"/>
          <p:cNvSpPr/>
          <p:nvPr/>
        </p:nvSpPr>
        <p:spPr>
          <a:xfrm>
            <a:off x="868680" y="1463040"/>
            <a:ext cx="4709160" cy="3886200"/>
          </a:xfrm>
          <a:prstGeom prst="rect">
            <a:avLst/>
          </a:prstGeom>
          <a:noFill/>
          <a:ln/>
        </p:spPr>
        <p:txBody>
          <a:bodyPr wrap="square" lIns="254" tIns="254" rIns="254" bIns="254" rtlCol="0" anchor="ctr"/>
          <a:lstStyle/>
          <a:p>
            <a:pPr marL="0" indent="0">
              <a:buNone/>
            </a:pPr>
            <a:r>
              <a:rPr lang="en-US" sz="1300" b="1" dirty="0">
                <a:solidFill>
                  <a:srgbClr val="143B66"/>
                </a:solidFill>
              </a:rPr>
              <a:t>Problem addressed
</a:t>
            </a:r>
            <a:r>
              <a:rPr lang="en-US" sz="1300" dirty="0">
                <a:solidFill>
                  <a:srgbClr val="1F1F1F"/>
                </a:solidFill>
              </a:rPr>
              <a:t>A basic habit tracker would only demonstrate simple CRUD. I wanted a design that also showed relational modelling and simple behavioural analytics.
</a:t>
            </a:r>
            <a:r>
              <a:rPr lang="en-US" sz="1300" b="1" dirty="0">
                <a:solidFill>
                  <a:srgbClr val="143B66"/>
                </a:solidFill>
              </a:rPr>
              <a:t>Final direction
</a:t>
            </a:r>
            <a:r>
              <a:rPr lang="en-US" sz="1300" dirty="0">
                <a:solidFill>
                  <a:srgbClr val="1F1F1F"/>
                </a:solidFill>
              </a:rPr>
              <a:t>A Django API that manages habits, stores completion logs, and calculates a current streak.
</a:t>
            </a:r>
            <a:r>
              <a:rPr lang="en-US" sz="1300" b="1" dirty="0">
                <a:solidFill>
                  <a:srgbClr val="143B66"/>
                </a:solidFill>
              </a:rPr>
              <a:t>Why this is stronger
</a:t>
            </a:r>
            <a:r>
              <a:rPr lang="en-US" sz="1300" dirty="0">
                <a:solidFill>
                  <a:srgbClr val="1F1F1F"/>
                </a:solidFill>
              </a:rPr>
              <a:t>It is closer to a productivity and habit analytics API than a single-table demo, which better matches the brief’s higher-band expectations.</a:t>
            </a:r>
            <a:endParaRPr lang="en-US" sz="1300" dirty="0"/>
          </a:p>
        </p:txBody>
      </p:sp>
      <p:sp>
        <p:nvSpPr>
          <p:cNvPr id="8" name="Shape 6"/>
          <p:cNvSpPr/>
          <p:nvPr/>
        </p:nvSpPr>
        <p:spPr>
          <a:xfrm>
            <a:off x="6400800" y="1645920"/>
            <a:ext cx="1645920" cy="731520"/>
          </a:xfrm>
          <a:prstGeom prst="roundRect">
            <a:avLst>
              <a:gd name="adj" fmla="val 5000"/>
            </a:avLst>
          </a:prstGeom>
          <a:solidFill>
            <a:srgbClr val="FDECD9"/>
          </a:solidFill>
          <a:ln w="12700">
            <a:solidFill>
              <a:srgbClr val="F1C79A"/>
            </a:solidFill>
            <a:prstDash val="solid"/>
          </a:ln>
        </p:spPr>
        <p:txBody>
          <a:bodyPr/>
          <a:lstStyle/>
          <a:p>
            <a:endParaRPr lang="en-GB"/>
          </a:p>
        </p:txBody>
      </p:sp>
      <p:sp>
        <p:nvSpPr>
          <p:cNvPr id="9" name="Text 7"/>
          <p:cNvSpPr/>
          <p:nvPr/>
        </p:nvSpPr>
        <p:spPr>
          <a:xfrm>
            <a:off x="6565392" y="1847088"/>
            <a:ext cx="1316736" cy="320040"/>
          </a:xfrm>
          <a:prstGeom prst="rect">
            <a:avLst/>
          </a:prstGeom>
          <a:noFill/>
          <a:ln/>
        </p:spPr>
        <p:txBody>
          <a:bodyPr wrap="square" rtlCol="0" anchor="ctr"/>
          <a:lstStyle/>
          <a:p>
            <a:pPr marL="0" indent="0" algn="ctr">
              <a:buNone/>
            </a:pPr>
            <a:r>
              <a:rPr lang="en-US" sz="1300" b="1" dirty="0">
                <a:solidFill>
                  <a:srgbClr val="1F1F1F"/>
                </a:solidFill>
              </a:rPr>
              <a:t>Basic</a:t>
            </a:r>
            <a:endParaRPr lang="en-US" sz="1300" dirty="0"/>
          </a:p>
          <a:p>
            <a:pPr marL="0" indent="0" algn="ctr">
              <a:buNone/>
            </a:pPr>
            <a:r>
              <a:rPr lang="en-US" sz="1300" b="1" dirty="0">
                <a:solidFill>
                  <a:srgbClr val="1F1F1F"/>
                </a:solidFill>
              </a:rPr>
              <a:t>habit tracker</a:t>
            </a:r>
            <a:endParaRPr lang="en-US" sz="1300" dirty="0"/>
          </a:p>
        </p:txBody>
      </p:sp>
      <p:sp>
        <p:nvSpPr>
          <p:cNvPr id="10" name="Shape 8"/>
          <p:cNvSpPr/>
          <p:nvPr/>
        </p:nvSpPr>
        <p:spPr>
          <a:xfrm>
            <a:off x="8183880" y="1847088"/>
            <a:ext cx="685800" cy="329184"/>
          </a:xfrm>
          <a:prstGeom prst="chevron">
            <a:avLst/>
          </a:prstGeom>
          <a:solidFill>
            <a:srgbClr val="C96A1B"/>
          </a:solidFill>
          <a:ln w="12700">
            <a:solidFill>
              <a:srgbClr val="C96A1B"/>
            </a:solidFill>
            <a:prstDash val="solid"/>
          </a:ln>
        </p:spPr>
        <p:txBody>
          <a:bodyPr/>
          <a:lstStyle/>
          <a:p>
            <a:endParaRPr lang="en-GB"/>
          </a:p>
        </p:txBody>
      </p:sp>
      <p:sp>
        <p:nvSpPr>
          <p:cNvPr id="11" name="Shape 9"/>
          <p:cNvSpPr/>
          <p:nvPr/>
        </p:nvSpPr>
        <p:spPr>
          <a:xfrm>
            <a:off x="9098280" y="1417320"/>
            <a:ext cx="2423160" cy="1188720"/>
          </a:xfrm>
          <a:prstGeom prst="roundRect">
            <a:avLst>
              <a:gd name="adj" fmla="val 3077"/>
            </a:avLst>
          </a:prstGeom>
          <a:solidFill>
            <a:srgbClr val="E8F3E4"/>
          </a:solidFill>
          <a:ln w="12700">
            <a:solidFill>
              <a:srgbClr val="B7D4AF"/>
            </a:solidFill>
            <a:prstDash val="solid"/>
          </a:ln>
        </p:spPr>
        <p:txBody>
          <a:bodyPr/>
          <a:lstStyle/>
          <a:p>
            <a:endParaRPr lang="en-GB"/>
          </a:p>
        </p:txBody>
      </p:sp>
      <p:sp>
        <p:nvSpPr>
          <p:cNvPr id="12" name="Text 10"/>
          <p:cNvSpPr/>
          <p:nvPr/>
        </p:nvSpPr>
        <p:spPr>
          <a:xfrm>
            <a:off x="9281160" y="1783080"/>
            <a:ext cx="2057400" cy="502920"/>
          </a:xfrm>
          <a:prstGeom prst="rect">
            <a:avLst/>
          </a:prstGeom>
          <a:noFill/>
          <a:ln/>
        </p:spPr>
        <p:txBody>
          <a:bodyPr wrap="square" rtlCol="0" anchor="ctr"/>
          <a:lstStyle/>
          <a:p>
            <a:pPr marL="0" indent="0" algn="ctr">
              <a:buNone/>
            </a:pPr>
            <a:r>
              <a:rPr lang="en-US" sz="1500" b="1" dirty="0">
                <a:solidFill>
                  <a:srgbClr val="567D46"/>
                </a:solidFill>
              </a:rPr>
              <a:t>Productivity and</a:t>
            </a:r>
            <a:endParaRPr lang="en-US" sz="1500" dirty="0"/>
          </a:p>
          <a:p>
            <a:pPr marL="0" indent="0" algn="ctr">
              <a:buNone/>
            </a:pPr>
            <a:r>
              <a:rPr lang="en-US" sz="1500" b="1" dirty="0">
                <a:solidFill>
                  <a:srgbClr val="567D46"/>
                </a:solidFill>
              </a:rPr>
              <a:t>Habit Analytics API</a:t>
            </a:r>
            <a:endParaRPr lang="en-US" sz="1500" dirty="0"/>
          </a:p>
        </p:txBody>
      </p:sp>
      <p:sp>
        <p:nvSpPr>
          <p:cNvPr id="13" name="Text 11"/>
          <p:cNvSpPr/>
          <p:nvPr/>
        </p:nvSpPr>
        <p:spPr>
          <a:xfrm>
            <a:off x="9052560" y="2971800"/>
            <a:ext cx="2468880" cy="960120"/>
          </a:xfrm>
          <a:prstGeom prst="rect">
            <a:avLst/>
          </a:prstGeom>
          <a:noFill/>
          <a:ln/>
        </p:spPr>
        <p:txBody>
          <a:bodyPr wrap="square" rtlCol="0" anchor="ctr"/>
          <a:lstStyle/>
          <a:p>
            <a:pPr marL="0" indent="0" algn="ctr">
              <a:buNone/>
            </a:pPr>
            <a:r>
              <a:rPr lang="en-US" sz="1700" b="1" dirty="0">
                <a:solidFill>
                  <a:srgbClr val="143B66"/>
                </a:solidFill>
              </a:rPr>
              <a:t>Habit</a:t>
            </a:r>
            <a:endParaRPr lang="en-US" sz="1700" dirty="0"/>
          </a:p>
          <a:p>
            <a:pPr marL="0" indent="0" algn="ctr">
              <a:buNone/>
            </a:pPr>
            <a:r>
              <a:rPr lang="en-US" sz="1700" b="1" dirty="0">
                <a:solidFill>
                  <a:srgbClr val="143B66"/>
                </a:solidFill>
              </a:rPr>
              <a:t>+ HabitLog</a:t>
            </a:r>
            <a:endParaRPr lang="en-US" sz="1700" dirty="0"/>
          </a:p>
          <a:p>
            <a:pPr marL="0" indent="0" algn="ctr">
              <a:buNone/>
            </a:pPr>
            <a:r>
              <a:rPr lang="en-US" sz="1700" b="1" dirty="0">
                <a:solidFill>
                  <a:srgbClr val="143B66"/>
                </a:solidFill>
              </a:rPr>
              <a:t>+ Streak analytics</a:t>
            </a:r>
            <a:endParaRPr lang="en-US" sz="1700" dirty="0"/>
          </a:p>
        </p:txBody>
      </p:sp>
      <p:sp>
        <p:nvSpPr>
          <p:cNvPr id="14" name="Text 12"/>
          <p:cNvSpPr/>
          <p:nvPr/>
        </p:nvSpPr>
        <p:spPr>
          <a:xfrm>
            <a:off x="8503920" y="4069080"/>
            <a:ext cx="2743200" cy="365760"/>
          </a:xfrm>
          <a:prstGeom prst="rect">
            <a:avLst/>
          </a:prstGeom>
          <a:noFill/>
          <a:ln/>
        </p:spPr>
        <p:txBody>
          <a:bodyPr wrap="square" rtlCol="0" anchor="ctr"/>
          <a:lstStyle/>
          <a:p>
            <a:pPr marL="0" indent="0" algn="ctr">
              <a:buNone/>
            </a:pPr>
            <a:r>
              <a:rPr lang="en-US" sz="1150" i="1" dirty="0">
                <a:solidFill>
                  <a:srgbClr val="5C6773"/>
                </a:solidFill>
              </a:rPr>
              <a:t>This was the biggest architectural upgrade in the project.</a:t>
            </a:r>
            <a:endParaRPr lang="en-US" sz="1150" dirty="0"/>
          </a:p>
        </p:txBody>
      </p:sp>
      <p:sp>
        <p:nvSpPr>
          <p:cNvPr id="15" name="Text 13"/>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02920" y="457200"/>
            <a:ext cx="8138160" cy="411480"/>
          </a:xfrm>
          <a:prstGeom prst="rect">
            <a:avLst/>
          </a:prstGeom>
          <a:noFill/>
          <a:ln/>
        </p:spPr>
        <p:txBody>
          <a:bodyPr wrap="square" lIns="0" tIns="0" rIns="0" bIns="0" rtlCol="0" anchor="ctr"/>
          <a:lstStyle/>
          <a:p>
            <a:pPr marL="0" indent="0">
              <a:buNone/>
            </a:pPr>
            <a:r>
              <a:rPr lang="en-US" sz="2500" b="1" dirty="0">
                <a:solidFill>
                  <a:srgbClr val="143B66"/>
                </a:solidFill>
                <a:latin typeface="Aptos Display" pitchFamily="34" charset="0"/>
                <a:ea typeface="Aptos Display" pitchFamily="34" charset="-122"/>
                <a:cs typeface="Aptos Display" pitchFamily="34" charset="-120"/>
              </a:rPr>
              <a:t>Architecture and data model</a:t>
            </a:r>
            <a:endParaRPr lang="en-US" sz="2500" dirty="0"/>
          </a:p>
        </p:txBody>
      </p:sp>
      <p:sp>
        <p:nvSpPr>
          <p:cNvPr id="5" name="Text 3"/>
          <p:cNvSpPr/>
          <p:nvPr/>
        </p:nvSpPr>
        <p:spPr>
          <a:xfrm>
            <a:off x="502920" y="896112"/>
            <a:ext cx="8138160" cy="228600"/>
          </a:xfrm>
          <a:prstGeom prst="rect">
            <a:avLst/>
          </a:prstGeom>
          <a:noFill/>
          <a:ln/>
        </p:spPr>
        <p:txBody>
          <a:bodyPr wrap="square" lIns="0" tIns="0" rIns="0" bIns="0" rtlCol="0" anchor="ctr"/>
          <a:lstStyle/>
          <a:p>
            <a:pPr marL="0" indent="0">
              <a:buNone/>
            </a:pPr>
            <a:r>
              <a:rPr lang="en-US" sz="1150" dirty="0">
                <a:solidFill>
                  <a:srgbClr val="5C6773"/>
                </a:solidFill>
                <a:latin typeface="Aptos" pitchFamily="34" charset="0"/>
                <a:ea typeface="Aptos" pitchFamily="34" charset="-122"/>
                <a:cs typeface="Aptos" pitchFamily="34" charset="-120"/>
              </a:rPr>
              <a:t>Two related models instead of one flat table</a:t>
            </a:r>
            <a:endParaRPr lang="en-US" sz="1150" dirty="0"/>
          </a:p>
        </p:txBody>
      </p:sp>
      <p:sp>
        <p:nvSpPr>
          <p:cNvPr id="6" name="Shape 4"/>
          <p:cNvSpPr/>
          <p:nvPr/>
        </p:nvSpPr>
        <p:spPr>
          <a:xfrm>
            <a:off x="4800600" y="2331720"/>
            <a:ext cx="1417320" cy="0"/>
          </a:xfrm>
          <a:prstGeom prst="line">
            <a:avLst/>
          </a:prstGeom>
          <a:noFill/>
          <a:ln w="31750">
            <a:solidFill>
              <a:srgbClr val="3C73B8"/>
            </a:solidFill>
            <a:prstDash val="solid"/>
            <a:headEnd type="none"/>
            <a:tailEnd type="triangle"/>
          </a:ln>
        </p:spPr>
        <p:txBody>
          <a:bodyPr/>
          <a:lstStyle/>
          <a:p>
            <a:endParaRPr lang="en-GB"/>
          </a:p>
        </p:txBody>
      </p:sp>
      <p:sp>
        <p:nvSpPr>
          <p:cNvPr id="7" name="Shape 5"/>
          <p:cNvSpPr/>
          <p:nvPr/>
        </p:nvSpPr>
        <p:spPr>
          <a:xfrm>
            <a:off x="731520" y="1600200"/>
            <a:ext cx="3840480" cy="2926080"/>
          </a:xfrm>
          <a:prstGeom prst="roundRect">
            <a:avLst>
              <a:gd name="adj" fmla="val 1563"/>
            </a:avLst>
          </a:prstGeom>
          <a:solidFill>
            <a:srgbClr val="F6F9FC"/>
          </a:solidFill>
          <a:ln w="12700">
            <a:solidFill>
              <a:srgbClr val="D9E3EE"/>
            </a:solidFill>
            <a:prstDash val="solid"/>
          </a:ln>
        </p:spPr>
        <p:txBody>
          <a:bodyPr/>
          <a:lstStyle/>
          <a:p>
            <a:endParaRPr lang="en-GB"/>
          </a:p>
        </p:txBody>
      </p:sp>
      <p:sp>
        <p:nvSpPr>
          <p:cNvPr id="8" name="Text 6"/>
          <p:cNvSpPr/>
          <p:nvPr/>
        </p:nvSpPr>
        <p:spPr>
          <a:xfrm>
            <a:off x="960120" y="1810512"/>
            <a:ext cx="914400" cy="256032"/>
          </a:xfrm>
          <a:prstGeom prst="rect">
            <a:avLst/>
          </a:prstGeom>
          <a:noFill/>
          <a:ln/>
        </p:spPr>
        <p:txBody>
          <a:bodyPr wrap="square" rtlCol="0" anchor="ctr"/>
          <a:lstStyle/>
          <a:p>
            <a:pPr marL="0" indent="0">
              <a:buNone/>
            </a:pPr>
            <a:r>
              <a:rPr lang="en-US" sz="2000" b="1" dirty="0">
                <a:solidFill>
                  <a:srgbClr val="143B66"/>
                </a:solidFill>
              </a:rPr>
              <a:t>Habit</a:t>
            </a:r>
            <a:endParaRPr lang="en-US" sz="2000" dirty="0"/>
          </a:p>
        </p:txBody>
      </p:sp>
      <p:sp>
        <p:nvSpPr>
          <p:cNvPr id="9" name="Text 7"/>
          <p:cNvSpPr/>
          <p:nvPr/>
        </p:nvSpPr>
        <p:spPr>
          <a:xfrm>
            <a:off x="1051560" y="2240280"/>
            <a:ext cx="2103120" cy="1600200"/>
          </a:xfrm>
          <a:prstGeom prst="rect">
            <a:avLst/>
          </a:prstGeom>
          <a:noFill/>
          <a:ln/>
        </p:spPr>
        <p:txBody>
          <a:bodyPr wrap="square" rtlCol="0" anchor="ctr"/>
          <a:lstStyle/>
          <a:p>
            <a:pPr marL="0" indent="0">
              <a:buNone/>
            </a:pPr>
            <a:r>
              <a:rPr lang="en-US" sz="1600" dirty="0">
                <a:solidFill>
                  <a:srgbClr val="1F1F1F"/>
                </a:solidFill>
              </a:rPr>
              <a:t>• id</a:t>
            </a:r>
            <a:endParaRPr lang="en-US" sz="1600" dirty="0"/>
          </a:p>
          <a:p>
            <a:pPr marL="0" indent="0">
              <a:buNone/>
            </a:pPr>
            <a:r>
              <a:rPr lang="en-US" sz="1600" dirty="0">
                <a:solidFill>
                  <a:srgbClr val="1F1F1F"/>
                </a:solidFill>
              </a:rPr>
              <a:t>• name</a:t>
            </a:r>
            <a:endParaRPr lang="en-US" sz="1600" dirty="0"/>
          </a:p>
          <a:p>
            <a:pPr marL="0" indent="0">
              <a:buNone/>
            </a:pPr>
            <a:r>
              <a:rPr lang="en-US" sz="1600" dirty="0">
                <a:solidFill>
                  <a:srgbClr val="1F1F1F"/>
                </a:solidFill>
              </a:rPr>
              <a:t>• description</a:t>
            </a:r>
            <a:endParaRPr lang="en-US" sz="1600" dirty="0"/>
          </a:p>
          <a:p>
            <a:pPr marL="0" indent="0">
              <a:buNone/>
            </a:pPr>
            <a:r>
              <a:rPr lang="en-US" sz="1600" dirty="0">
                <a:solidFill>
                  <a:srgbClr val="1F1F1F"/>
                </a:solidFill>
              </a:rPr>
              <a:t>• frequency</a:t>
            </a:r>
            <a:endParaRPr lang="en-US" sz="1600" dirty="0"/>
          </a:p>
          <a:p>
            <a:pPr marL="0" indent="0">
              <a:buNone/>
            </a:pPr>
            <a:r>
              <a:rPr lang="en-US" sz="1600" dirty="0">
                <a:solidFill>
                  <a:srgbClr val="1F1F1F"/>
                </a:solidFill>
              </a:rPr>
              <a:t>• created_at</a:t>
            </a:r>
            <a:endParaRPr lang="en-US" sz="1600" dirty="0"/>
          </a:p>
        </p:txBody>
      </p:sp>
      <p:sp>
        <p:nvSpPr>
          <p:cNvPr id="10" name="Text 8"/>
          <p:cNvSpPr/>
          <p:nvPr/>
        </p:nvSpPr>
        <p:spPr>
          <a:xfrm>
            <a:off x="914400" y="4069080"/>
            <a:ext cx="2011680" cy="201168"/>
          </a:xfrm>
          <a:prstGeom prst="rect">
            <a:avLst/>
          </a:prstGeom>
          <a:noFill/>
          <a:ln/>
        </p:spPr>
        <p:txBody>
          <a:bodyPr wrap="square" rtlCol="0" anchor="ctr"/>
          <a:lstStyle/>
          <a:p>
            <a:pPr marL="0" indent="0">
              <a:buNone/>
            </a:pPr>
            <a:r>
              <a:rPr lang="en-US" sz="1150" i="1" dirty="0">
                <a:solidFill>
                  <a:srgbClr val="5C6773"/>
                </a:solidFill>
              </a:rPr>
              <a:t>Main tracked activity</a:t>
            </a:r>
            <a:endParaRPr lang="en-US" sz="1150" dirty="0"/>
          </a:p>
        </p:txBody>
      </p:sp>
      <p:sp>
        <p:nvSpPr>
          <p:cNvPr id="11" name="Shape 9"/>
          <p:cNvSpPr/>
          <p:nvPr/>
        </p:nvSpPr>
        <p:spPr>
          <a:xfrm>
            <a:off x="6355080" y="1234440"/>
            <a:ext cx="4297680" cy="3657600"/>
          </a:xfrm>
          <a:prstGeom prst="roundRect">
            <a:avLst>
              <a:gd name="adj" fmla="val 1250"/>
            </a:avLst>
          </a:prstGeom>
          <a:solidFill>
            <a:srgbClr val="F6F9FC"/>
          </a:solidFill>
          <a:ln w="12700">
            <a:solidFill>
              <a:srgbClr val="D9E3EE"/>
            </a:solidFill>
            <a:prstDash val="solid"/>
          </a:ln>
        </p:spPr>
        <p:txBody>
          <a:bodyPr/>
          <a:lstStyle/>
          <a:p>
            <a:endParaRPr lang="en-GB"/>
          </a:p>
        </p:txBody>
      </p:sp>
      <p:sp>
        <p:nvSpPr>
          <p:cNvPr id="12" name="Text 10"/>
          <p:cNvSpPr/>
          <p:nvPr/>
        </p:nvSpPr>
        <p:spPr>
          <a:xfrm>
            <a:off x="6583680" y="1481328"/>
            <a:ext cx="1280160" cy="256032"/>
          </a:xfrm>
          <a:prstGeom prst="rect">
            <a:avLst/>
          </a:prstGeom>
          <a:noFill/>
          <a:ln/>
        </p:spPr>
        <p:txBody>
          <a:bodyPr wrap="square" rtlCol="0" anchor="ctr"/>
          <a:lstStyle/>
          <a:p>
            <a:pPr marL="0" indent="0">
              <a:buNone/>
            </a:pPr>
            <a:r>
              <a:rPr lang="en-US" sz="2000" b="1" dirty="0">
                <a:solidFill>
                  <a:srgbClr val="143B66"/>
                </a:solidFill>
              </a:rPr>
              <a:t>HabitLog</a:t>
            </a:r>
            <a:endParaRPr lang="en-US" sz="2000" dirty="0"/>
          </a:p>
        </p:txBody>
      </p:sp>
      <p:sp>
        <p:nvSpPr>
          <p:cNvPr id="13" name="Text 11"/>
          <p:cNvSpPr/>
          <p:nvPr/>
        </p:nvSpPr>
        <p:spPr>
          <a:xfrm>
            <a:off x="6656832" y="1874520"/>
            <a:ext cx="2468880" cy="1828800"/>
          </a:xfrm>
          <a:prstGeom prst="rect">
            <a:avLst/>
          </a:prstGeom>
          <a:noFill/>
          <a:ln/>
        </p:spPr>
        <p:txBody>
          <a:bodyPr wrap="square" rtlCol="0" anchor="ctr"/>
          <a:lstStyle/>
          <a:p>
            <a:pPr marL="0" indent="0">
              <a:buNone/>
            </a:pPr>
            <a:r>
              <a:rPr lang="en-US" sz="1600" dirty="0">
                <a:solidFill>
                  <a:srgbClr val="1F1F1F"/>
                </a:solidFill>
              </a:rPr>
              <a:t>• id</a:t>
            </a:r>
            <a:endParaRPr lang="en-US" sz="1600" dirty="0"/>
          </a:p>
          <a:p>
            <a:pPr marL="0" indent="0">
              <a:buNone/>
            </a:pPr>
            <a:r>
              <a:rPr lang="en-US" sz="1600" dirty="0">
                <a:solidFill>
                  <a:srgbClr val="1F1F1F"/>
                </a:solidFill>
              </a:rPr>
              <a:t>• habit (ForeignKey)</a:t>
            </a:r>
            <a:endParaRPr lang="en-US" sz="1600" dirty="0"/>
          </a:p>
          <a:p>
            <a:pPr marL="0" indent="0">
              <a:buNone/>
            </a:pPr>
            <a:r>
              <a:rPr lang="en-US" sz="1600" dirty="0">
                <a:solidFill>
                  <a:srgbClr val="1F1F1F"/>
                </a:solidFill>
              </a:rPr>
              <a:t>• completed_on</a:t>
            </a:r>
            <a:endParaRPr lang="en-US" sz="1600" dirty="0"/>
          </a:p>
          <a:p>
            <a:pPr marL="0" indent="0">
              <a:buNone/>
            </a:pPr>
            <a:r>
              <a:rPr lang="en-US" sz="1600" dirty="0">
                <a:solidFill>
                  <a:srgbClr val="1F1F1F"/>
                </a:solidFill>
              </a:rPr>
              <a:t>• notes</a:t>
            </a:r>
            <a:endParaRPr lang="en-US" sz="1600" dirty="0"/>
          </a:p>
          <a:p>
            <a:pPr marL="0" indent="0">
              <a:buNone/>
            </a:pPr>
            <a:r>
              <a:rPr lang="en-US" sz="1600" dirty="0">
                <a:solidFill>
                  <a:srgbClr val="1F1F1F"/>
                </a:solidFill>
              </a:rPr>
              <a:t>• created_at</a:t>
            </a:r>
            <a:endParaRPr lang="en-US" sz="1600" dirty="0"/>
          </a:p>
        </p:txBody>
      </p:sp>
      <p:sp>
        <p:nvSpPr>
          <p:cNvPr id="14" name="Text 12"/>
          <p:cNvSpPr/>
          <p:nvPr/>
        </p:nvSpPr>
        <p:spPr>
          <a:xfrm>
            <a:off x="6583680" y="4251960"/>
            <a:ext cx="3108960" cy="201168"/>
          </a:xfrm>
          <a:prstGeom prst="rect">
            <a:avLst/>
          </a:prstGeom>
          <a:noFill/>
          <a:ln/>
        </p:spPr>
        <p:txBody>
          <a:bodyPr wrap="square" rtlCol="0" anchor="ctr"/>
          <a:lstStyle/>
          <a:p>
            <a:pPr marL="0" indent="0">
              <a:buNone/>
            </a:pPr>
            <a:r>
              <a:rPr lang="en-US" sz="1150" i="1" dirty="0">
                <a:solidFill>
                  <a:srgbClr val="5C6773"/>
                </a:solidFill>
              </a:rPr>
              <a:t>Stores dated completions and supports analytics</a:t>
            </a:r>
            <a:endParaRPr lang="en-US" sz="1150" dirty="0"/>
          </a:p>
        </p:txBody>
      </p:sp>
      <p:sp>
        <p:nvSpPr>
          <p:cNvPr id="15" name="Text 13"/>
          <p:cNvSpPr/>
          <p:nvPr/>
        </p:nvSpPr>
        <p:spPr>
          <a:xfrm>
            <a:off x="868680" y="5166360"/>
            <a:ext cx="9692640" cy="256032"/>
          </a:xfrm>
          <a:prstGeom prst="rect">
            <a:avLst/>
          </a:prstGeom>
          <a:noFill/>
          <a:ln/>
        </p:spPr>
        <p:txBody>
          <a:bodyPr wrap="square" rtlCol="0" anchor="ctr"/>
          <a:lstStyle/>
          <a:p>
            <a:pPr marL="0" indent="0" algn="ctr">
              <a:buNone/>
            </a:pPr>
            <a:r>
              <a:rPr lang="en-US" sz="1300" b="1" dirty="0">
                <a:solidFill>
                  <a:srgbClr val="1F1F1F"/>
                </a:solidFill>
              </a:rPr>
              <a:t>This relationship enables history and streak calculations.</a:t>
            </a:r>
            <a:endParaRPr lang="en-US" sz="1300" dirty="0"/>
          </a:p>
        </p:txBody>
      </p:sp>
      <p:sp>
        <p:nvSpPr>
          <p:cNvPr id="16" name="Text 14"/>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02920" y="457200"/>
            <a:ext cx="8138160" cy="411480"/>
          </a:xfrm>
          <a:prstGeom prst="rect">
            <a:avLst/>
          </a:prstGeom>
          <a:noFill/>
          <a:ln/>
        </p:spPr>
        <p:txBody>
          <a:bodyPr wrap="square" lIns="0" tIns="0" rIns="0" bIns="0" rtlCol="0" anchor="ctr"/>
          <a:lstStyle/>
          <a:p>
            <a:pPr marL="0" indent="0">
              <a:buNone/>
            </a:pPr>
            <a:r>
              <a:rPr lang="en-US" sz="2500" b="1" dirty="0">
                <a:solidFill>
                  <a:srgbClr val="143B66"/>
                </a:solidFill>
                <a:latin typeface="Aptos Display" pitchFamily="34" charset="0"/>
                <a:ea typeface="Aptos Display" pitchFamily="34" charset="-122"/>
                <a:cs typeface="Aptos Display" pitchFamily="34" charset="-120"/>
              </a:rPr>
              <a:t>Endpoints and analytics logic</a:t>
            </a:r>
            <a:endParaRPr lang="en-US" sz="2500" dirty="0"/>
          </a:p>
        </p:txBody>
      </p:sp>
      <p:sp>
        <p:nvSpPr>
          <p:cNvPr id="5" name="Text 3"/>
          <p:cNvSpPr/>
          <p:nvPr/>
        </p:nvSpPr>
        <p:spPr>
          <a:xfrm>
            <a:off x="502920" y="896112"/>
            <a:ext cx="8138160" cy="228600"/>
          </a:xfrm>
          <a:prstGeom prst="rect">
            <a:avLst/>
          </a:prstGeom>
          <a:noFill/>
          <a:ln/>
        </p:spPr>
        <p:txBody>
          <a:bodyPr wrap="square" lIns="0" tIns="0" rIns="0" bIns="0" rtlCol="0" anchor="ctr"/>
          <a:lstStyle/>
          <a:p>
            <a:pPr marL="0" indent="0">
              <a:buNone/>
            </a:pPr>
            <a:r>
              <a:rPr lang="en-US" sz="1150" dirty="0">
                <a:solidFill>
                  <a:srgbClr val="5C6773"/>
                </a:solidFill>
                <a:latin typeface="Aptos" pitchFamily="34" charset="0"/>
                <a:ea typeface="Aptos" pitchFamily="34" charset="-122"/>
                <a:cs typeface="Aptos" pitchFamily="34" charset="-120"/>
              </a:rPr>
              <a:t>The API does more than create, read, update and delete</a:t>
            </a:r>
            <a:endParaRPr lang="en-US" sz="1150" dirty="0"/>
          </a:p>
        </p:txBody>
      </p:sp>
      <p:sp>
        <p:nvSpPr>
          <p:cNvPr id="6" name="Shape 4"/>
          <p:cNvSpPr/>
          <p:nvPr/>
        </p:nvSpPr>
        <p:spPr>
          <a:xfrm>
            <a:off x="640080" y="1234440"/>
            <a:ext cx="5440680" cy="4343400"/>
          </a:xfrm>
          <a:prstGeom prst="roundRect">
            <a:avLst>
              <a:gd name="adj" fmla="val 1053"/>
            </a:avLst>
          </a:prstGeom>
          <a:solidFill>
            <a:srgbClr val="F6F9FC"/>
          </a:solidFill>
          <a:ln w="12700">
            <a:solidFill>
              <a:srgbClr val="D9E3EE"/>
            </a:solidFill>
            <a:prstDash val="solid"/>
          </a:ln>
        </p:spPr>
        <p:txBody>
          <a:bodyPr/>
          <a:lstStyle/>
          <a:p>
            <a:endParaRPr lang="en-GB"/>
          </a:p>
        </p:txBody>
      </p:sp>
      <p:sp>
        <p:nvSpPr>
          <p:cNvPr id="7" name="Text 5"/>
          <p:cNvSpPr/>
          <p:nvPr/>
        </p:nvSpPr>
        <p:spPr>
          <a:xfrm>
            <a:off x="868680" y="1508760"/>
            <a:ext cx="2560320" cy="201168"/>
          </a:xfrm>
          <a:prstGeom prst="rect">
            <a:avLst/>
          </a:prstGeom>
          <a:noFill/>
          <a:ln/>
        </p:spPr>
        <p:txBody>
          <a:bodyPr wrap="square" rtlCol="0" anchor="ctr"/>
          <a:lstStyle/>
          <a:p>
            <a:pPr marL="0" indent="0">
              <a:buNone/>
            </a:pPr>
            <a:r>
              <a:rPr lang="en-US" sz="1800" b="1" dirty="0">
                <a:solidFill>
                  <a:srgbClr val="143B66"/>
                </a:solidFill>
              </a:rPr>
              <a:t>Core habit endpoints</a:t>
            </a:r>
            <a:endParaRPr lang="en-US" sz="1800" dirty="0"/>
          </a:p>
        </p:txBody>
      </p:sp>
      <p:sp>
        <p:nvSpPr>
          <p:cNvPr id="8" name="Text 6"/>
          <p:cNvSpPr/>
          <p:nvPr/>
        </p:nvSpPr>
        <p:spPr>
          <a:xfrm>
            <a:off x="960120" y="1874520"/>
            <a:ext cx="4389120" cy="2514600"/>
          </a:xfrm>
          <a:prstGeom prst="rect">
            <a:avLst/>
          </a:prstGeom>
          <a:noFill/>
          <a:ln/>
        </p:spPr>
        <p:txBody>
          <a:bodyPr wrap="square" rtlCol="0" anchor="ctr"/>
          <a:lstStyle/>
          <a:p>
            <a:pPr marL="0" indent="0">
              <a:buNone/>
            </a:pPr>
            <a:r>
              <a:rPr lang="en-US" sz="1600" dirty="0">
                <a:solidFill>
                  <a:srgbClr val="1F1F1F"/>
                </a:solidFill>
                <a:latin typeface="Consolas" pitchFamily="34" charset="0"/>
                <a:ea typeface="Consolas" pitchFamily="34" charset="-122"/>
                <a:cs typeface="Consolas" pitchFamily="34" charset="-120"/>
              </a:rPr>
              <a:t>GET /api/habits/</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GET /api/habits/&lt;id&gt;/</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POST /api/habits/create/</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PUT /api/habits/&lt;id&gt;/update/</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DELETE /api/habits/&lt;id&gt;/delete/</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GET /api/habits/summary/</a:t>
            </a:r>
            <a:endParaRPr lang="en-US" sz="1600" dirty="0"/>
          </a:p>
        </p:txBody>
      </p:sp>
      <p:sp>
        <p:nvSpPr>
          <p:cNvPr id="9" name="Text 7"/>
          <p:cNvSpPr/>
          <p:nvPr/>
        </p:nvSpPr>
        <p:spPr>
          <a:xfrm>
            <a:off x="868680" y="4800600"/>
            <a:ext cx="4480560" cy="201168"/>
          </a:xfrm>
          <a:prstGeom prst="rect">
            <a:avLst/>
          </a:prstGeom>
          <a:noFill/>
          <a:ln/>
        </p:spPr>
        <p:txBody>
          <a:bodyPr wrap="square" rtlCol="0" anchor="ctr"/>
          <a:lstStyle/>
          <a:p>
            <a:pPr marL="0" indent="0">
              <a:buNone/>
            </a:pPr>
            <a:r>
              <a:rPr lang="en-US" sz="1200" i="1" dirty="0">
                <a:solidFill>
                  <a:srgbClr val="5C6773"/>
                </a:solidFill>
              </a:rPr>
              <a:t>Validation: required fields + allowed frequency values</a:t>
            </a:r>
            <a:endParaRPr lang="en-US" sz="1200" dirty="0"/>
          </a:p>
        </p:txBody>
      </p:sp>
      <p:sp>
        <p:nvSpPr>
          <p:cNvPr id="10" name="Shape 8"/>
          <p:cNvSpPr/>
          <p:nvPr/>
        </p:nvSpPr>
        <p:spPr>
          <a:xfrm>
            <a:off x="6400800" y="1234440"/>
            <a:ext cx="5166360" cy="4343400"/>
          </a:xfrm>
          <a:prstGeom prst="roundRect">
            <a:avLst>
              <a:gd name="adj" fmla="val 1053"/>
            </a:avLst>
          </a:prstGeom>
          <a:solidFill>
            <a:srgbClr val="F6F9FC"/>
          </a:solidFill>
          <a:ln w="12700">
            <a:solidFill>
              <a:srgbClr val="D9E3EE"/>
            </a:solidFill>
            <a:prstDash val="solid"/>
          </a:ln>
        </p:spPr>
        <p:txBody>
          <a:bodyPr/>
          <a:lstStyle/>
          <a:p>
            <a:endParaRPr lang="en-GB"/>
          </a:p>
        </p:txBody>
      </p:sp>
      <p:sp>
        <p:nvSpPr>
          <p:cNvPr id="11" name="Text 9"/>
          <p:cNvSpPr/>
          <p:nvPr/>
        </p:nvSpPr>
        <p:spPr>
          <a:xfrm>
            <a:off x="6629400" y="1508760"/>
            <a:ext cx="3017520" cy="201168"/>
          </a:xfrm>
          <a:prstGeom prst="rect">
            <a:avLst/>
          </a:prstGeom>
          <a:noFill/>
          <a:ln/>
        </p:spPr>
        <p:txBody>
          <a:bodyPr wrap="square" rtlCol="0" anchor="ctr"/>
          <a:lstStyle/>
          <a:p>
            <a:pPr marL="0" indent="0">
              <a:buNone/>
            </a:pPr>
            <a:r>
              <a:rPr lang="en-US" sz="1800" b="1" dirty="0">
                <a:solidFill>
                  <a:srgbClr val="143B66"/>
                </a:solidFill>
              </a:rPr>
              <a:t>Analytics-related endpoints</a:t>
            </a:r>
            <a:endParaRPr lang="en-US" sz="1800" dirty="0"/>
          </a:p>
        </p:txBody>
      </p:sp>
      <p:sp>
        <p:nvSpPr>
          <p:cNvPr id="12" name="Text 10"/>
          <p:cNvSpPr/>
          <p:nvPr/>
        </p:nvSpPr>
        <p:spPr>
          <a:xfrm>
            <a:off x="6720840" y="1874520"/>
            <a:ext cx="4389120" cy="1371600"/>
          </a:xfrm>
          <a:prstGeom prst="rect">
            <a:avLst/>
          </a:prstGeom>
          <a:noFill/>
          <a:ln/>
        </p:spPr>
        <p:txBody>
          <a:bodyPr wrap="square" rtlCol="0" anchor="ctr"/>
          <a:lstStyle/>
          <a:p>
            <a:pPr marL="0" indent="0">
              <a:buNone/>
            </a:pPr>
            <a:r>
              <a:rPr lang="en-US" sz="1600" dirty="0">
                <a:solidFill>
                  <a:srgbClr val="1F1F1F"/>
                </a:solidFill>
                <a:latin typeface="Consolas" pitchFamily="34" charset="0"/>
                <a:ea typeface="Consolas" pitchFamily="34" charset="-122"/>
                <a:cs typeface="Consolas" pitchFamily="34" charset="-120"/>
              </a:rPr>
              <a:t>POST /api/habits/&lt;id&gt;/logs/create/</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GET /api/habits/&lt;id&gt;/logs/</a:t>
            </a:r>
            <a:endParaRPr lang="en-US" sz="1600" dirty="0"/>
          </a:p>
          <a:p>
            <a:pPr marL="0" indent="0">
              <a:buNone/>
            </a:pPr>
            <a:r>
              <a:rPr lang="en-US" sz="1600" dirty="0">
                <a:solidFill>
                  <a:srgbClr val="1F1F1F"/>
                </a:solidFill>
                <a:latin typeface="Consolas" pitchFamily="34" charset="0"/>
                <a:ea typeface="Consolas" pitchFamily="34" charset="-122"/>
                <a:cs typeface="Consolas" pitchFamily="34" charset="-120"/>
              </a:rPr>
              <a:t>GET /api/habits/&lt;id&gt;/streak/</a:t>
            </a:r>
            <a:endParaRPr lang="en-US" sz="1600" dirty="0"/>
          </a:p>
        </p:txBody>
      </p:sp>
      <p:pic>
        <p:nvPicPr>
          <p:cNvPr id="13" name="Image 0" descr="/mnt/data/fa8a87f9-41a9-4bec-837d-f7dbb406f1e8.png"/>
          <p:cNvPicPr>
            <a:picLocks noChangeAspect="1"/>
          </p:cNvPicPr>
          <p:nvPr/>
        </p:nvPicPr>
        <p:blipFill>
          <a:blip r:embed="rId3"/>
          <a:stretch>
            <a:fillRect/>
          </a:stretch>
        </p:blipFill>
        <p:spPr>
          <a:xfrm>
            <a:off x="8234647" y="3337560"/>
            <a:ext cx="1864426" cy="914400"/>
          </a:xfrm>
          <a:prstGeom prst="rect">
            <a:avLst/>
          </a:prstGeom>
        </p:spPr>
      </p:pic>
      <p:sp>
        <p:nvSpPr>
          <p:cNvPr id="14" name="Text 11"/>
          <p:cNvSpPr/>
          <p:nvPr/>
        </p:nvSpPr>
        <p:spPr>
          <a:xfrm>
            <a:off x="6675120" y="4526280"/>
            <a:ext cx="4389120" cy="502920"/>
          </a:xfrm>
          <a:prstGeom prst="rect">
            <a:avLst/>
          </a:prstGeom>
          <a:noFill/>
          <a:ln/>
        </p:spPr>
        <p:txBody>
          <a:bodyPr wrap="square" lIns="0" tIns="0" rIns="0" bIns="0" rtlCol="0" anchor="ctr"/>
          <a:lstStyle/>
          <a:p>
            <a:pPr marL="0" indent="0">
              <a:buNone/>
            </a:pPr>
            <a:r>
              <a:rPr lang="en-US" sz="1250" dirty="0">
                <a:solidFill>
                  <a:srgbClr val="1F1F1F"/>
                </a:solidFill>
              </a:rPr>
              <a:t>The streak endpoint checks recent log dates and returns the current streak plus total logs.</a:t>
            </a:r>
            <a:endParaRPr lang="en-US" sz="1250" dirty="0"/>
          </a:p>
        </p:txBody>
      </p:sp>
      <p:sp>
        <p:nvSpPr>
          <p:cNvPr id="15" name="Text 12"/>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02920" y="457200"/>
            <a:ext cx="8138160" cy="411480"/>
          </a:xfrm>
          <a:prstGeom prst="rect">
            <a:avLst/>
          </a:prstGeom>
          <a:noFill/>
          <a:ln/>
        </p:spPr>
        <p:txBody>
          <a:bodyPr wrap="square" lIns="0" tIns="0" rIns="0" bIns="0" rtlCol="0" anchor="ctr"/>
          <a:lstStyle/>
          <a:p>
            <a:pPr marL="0" indent="0">
              <a:buNone/>
            </a:pPr>
            <a:r>
              <a:rPr lang="en-US" sz="2500" b="1" dirty="0">
                <a:solidFill>
                  <a:srgbClr val="143B66"/>
                </a:solidFill>
                <a:latin typeface="Aptos Display" pitchFamily="34" charset="0"/>
                <a:ea typeface="Aptos Display" pitchFamily="34" charset="-122"/>
                <a:cs typeface="Aptos Display" pitchFamily="34" charset="-120"/>
              </a:rPr>
              <a:t>Testing, documentation, and evidence</a:t>
            </a:r>
            <a:endParaRPr lang="en-US" sz="2500" dirty="0"/>
          </a:p>
        </p:txBody>
      </p:sp>
      <p:sp>
        <p:nvSpPr>
          <p:cNvPr id="5" name="Text 3"/>
          <p:cNvSpPr/>
          <p:nvPr/>
        </p:nvSpPr>
        <p:spPr>
          <a:xfrm>
            <a:off x="502920" y="896112"/>
            <a:ext cx="8138160" cy="228600"/>
          </a:xfrm>
          <a:prstGeom prst="rect">
            <a:avLst/>
          </a:prstGeom>
          <a:noFill/>
          <a:ln/>
        </p:spPr>
        <p:txBody>
          <a:bodyPr wrap="square" lIns="0" tIns="0" rIns="0" bIns="0" rtlCol="0" anchor="ctr"/>
          <a:lstStyle/>
          <a:p>
            <a:pPr marL="0" indent="0">
              <a:buNone/>
            </a:pPr>
            <a:r>
              <a:rPr lang="en-US" sz="1150" dirty="0">
                <a:solidFill>
                  <a:srgbClr val="5C6773"/>
                </a:solidFill>
                <a:latin typeface="Aptos" pitchFamily="34" charset="0"/>
                <a:ea typeface="Aptos" pitchFamily="34" charset="-122"/>
                <a:cs typeface="Aptos" pitchFamily="34" charset="-120"/>
              </a:rPr>
              <a:t>How I showed the API actually works</a:t>
            </a:r>
            <a:endParaRPr lang="en-US" sz="1150" dirty="0"/>
          </a:p>
        </p:txBody>
      </p:sp>
      <p:pic>
        <p:nvPicPr>
          <p:cNvPr id="6" name="Image 0" descr="/mnt/data/5b528d70-48a3-4f6f-b0eb-e518a91e3689.png"/>
          <p:cNvPicPr>
            <a:picLocks noChangeAspect="1"/>
          </p:cNvPicPr>
          <p:nvPr/>
        </p:nvPicPr>
        <p:blipFill>
          <a:blip r:embed="rId3"/>
          <a:stretch>
            <a:fillRect/>
          </a:stretch>
        </p:blipFill>
        <p:spPr>
          <a:xfrm>
            <a:off x="731520" y="1776549"/>
            <a:ext cx="4846320" cy="1384663"/>
          </a:xfrm>
          <a:prstGeom prst="rect">
            <a:avLst/>
          </a:prstGeom>
        </p:spPr>
      </p:pic>
      <p:sp>
        <p:nvSpPr>
          <p:cNvPr id="7" name="Shape 4"/>
          <p:cNvSpPr/>
          <p:nvPr/>
        </p:nvSpPr>
        <p:spPr>
          <a:xfrm>
            <a:off x="5989320" y="1261872"/>
            <a:ext cx="5440680" cy="4572000"/>
          </a:xfrm>
          <a:prstGeom prst="roundRect">
            <a:avLst>
              <a:gd name="adj" fmla="val 1000"/>
            </a:avLst>
          </a:prstGeom>
          <a:solidFill>
            <a:srgbClr val="F6F9FC"/>
          </a:solidFill>
          <a:ln w="12700">
            <a:solidFill>
              <a:srgbClr val="D9E3EE"/>
            </a:solidFill>
            <a:prstDash val="solid"/>
          </a:ln>
        </p:spPr>
        <p:txBody>
          <a:bodyPr/>
          <a:lstStyle/>
          <a:p>
            <a:endParaRPr lang="en-GB"/>
          </a:p>
        </p:txBody>
      </p:sp>
      <p:sp>
        <p:nvSpPr>
          <p:cNvPr id="8" name="Text 5"/>
          <p:cNvSpPr/>
          <p:nvPr/>
        </p:nvSpPr>
        <p:spPr>
          <a:xfrm>
            <a:off x="6263640" y="1554480"/>
            <a:ext cx="3474720" cy="201168"/>
          </a:xfrm>
          <a:prstGeom prst="rect">
            <a:avLst/>
          </a:prstGeom>
          <a:noFill/>
          <a:ln/>
        </p:spPr>
        <p:txBody>
          <a:bodyPr wrap="square" rtlCol="0" anchor="ctr"/>
          <a:lstStyle/>
          <a:p>
            <a:pPr marL="0" indent="0">
              <a:buNone/>
            </a:pPr>
            <a:r>
              <a:rPr lang="en-US" sz="1800" b="1" dirty="0">
                <a:solidFill>
                  <a:srgbClr val="143B66"/>
                </a:solidFill>
              </a:rPr>
              <a:t>Evidence included in the repository</a:t>
            </a:r>
            <a:endParaRPr lang="en-US" sz="1800" dirty="0"/>
          </a:p>
        </p:txBody>
      </p:sp>
      <p:sp>
        <p:nvSpPr>
          <p:cNvPr id="9" name="Text 6"/>
          <p:cNvSpPr/>
          <p:nvPr/>
        </p:nvSpPr>
        <p:spPr>
          <a:xfrm>
            <a:off x="6355080" y="1920240"/>
            <a:ext cx="4572000" cy="2560320"/>
          </a:xfrm>
          <a:prstGeom prst="rect">
            <a:avLst/>
          </a:prstGeom>
          <a:noFill/>
          <a:ln/>
        </p:spPr>
        <p:txBody>
          <a:bodyPr wrap="square" rtlCol="0" anchor="ctr"/>
          <a:lstStyle/>
          <a:p>
            <a:pPr marL="0" indent="0">
              <a:buNone/>
            </a:pPr>
            <a:r>
              <a:rPr lang="en-US" sz="1600" dirty="0">
                <a:solidFill>
                  <a:srgbClr val="1F1F1F"/>
                </a:solidFill>
              </a:rPr>
              <a:t>• Public GitHub repo with commit history</a:t>
            </a:r>
            <a:endParaRPr lang="en-US" sz="1600" dirty="0"/>
          </a:p>
          <a:p>
            <a:pPr marL="0" indent="0">
              <a:buNone/>
            </a:pPr>
            <a:r>
              <a:rPr lang="en-US" sz="1600" dirty="0">
                <a:solidFill>
                  <a:srgbClr val="1F1F1F"/>
                </a:solidFill>
              </a:rPr>
              <a:t>• README with setup instructions</a:t>
            </a:r>
            <a:endParaRPr lang="en-US" sz="1600" dirty="0"/>
          </a:p>
          <a:p>
            <a:pPr marL="0" indent="0">
              <a:buNone/>
            </a:pPr>
            <a:r>
              <a:rPr lang="en-US" sz="1600" dirty="0">
                <a:solidFill>
                  <a:srgbClr val="1F1F1F"/>
                </a:solidFill>
              </a:rPr>
              <a:t>• API documentation in PDF format</a:t>
            </a:r>
            <a:endParaRPr lang="en-US" sz="1600" dirty="0"/>
          </a:p>
          <a:p>
            <a:pPr marL="0" indent="0">
              <a:buNone/>
            </a:pPr>
            <a:r>
              <a:rPr lang="en-US" sz="1600" dirty="0">
                <a:solidFill>
                  <a:srgbClr val="1F1F1F"/>
                </a:solidFill>
              </a:rPr>
              <a:t>• Manual Postman testing</a:t>
            </a:r>
            <a:endParaRPr lang="en-US" sz="1600" dirty="0"/>
          </a:p>
          <a:p>
            <a:pPr marL="0" indent="0">
              <a:buNone/>
            </a:pPr>
            <a:r>
              <a:rPr lang="en-US" sz="1600" dirty="0">
                <a:solidFill>
                  <a:srgbClr val="1F1F1F"/>
                </a:solidFill>
              </a:rPr>
              <a:t>• 10 automated Django tests passing</a:t>
            </a:r>
            <a:endParaRPr lang="en-US" sz="1600" dirty="0"/>
          </a:p>
          <a:p>
            <a:pPr marL="0" indent="0">
              <a:buNone/>
            </a:pPr>
            <a:r>
              <a:rPr lang="en-US" sz="1600" dirty="0">
                <a:solidFill>
                  <a:srgbClr val="1F1F1F"/>
                </a:solidFill>
              </a:rPr>
              <a:t>• Report and GenAI declaration</a:t>
            </a:r>
            <a:endParaRPr lang="en-US" sz="1600" dirty="0"/>
          </a:p>
        </p:txBody>
      </p:sp>
      <p:sp>
        <p:nvSpPr>
          <p:cNvPr id="10" name="Text 7"/>
          <p:cNvSpPr/>
          <p:nvPr/>
        </p:nvSpPr>
        <p:spPr>
          <a:xfrm>
            <a:off x="6309360" y="4709160"/>
            <a:ext cx="4572000" cy="502920"/>
          </a:xfrm>
          <a:prstGeom prst="rect">
            <a:avLst/>
          </a:prstGeom>
          <a:noFill/>
          <a:ln/>
        </p:spPr>
        <p:txBody>
          <a:bodyPr wrap="square" rtlCol="0" anchor="ctr"/>
          <a:lstStyle/>
          <a:p>
            <a:pPr marL="0" indent="0">
              <a:buNone/>
            </a:pPr>
            <a:r>
              <a:rPr lang="en-US" sz="1250" i="1" dirty="0">
                <a:solidFill>
                  <a:srgbClr val="5C6773"/>
                </a:solidFill>
              </a:rPr>
              <a:t>Testing helped validate CRUD, invalid input handling, log creation, log listing, summary retrieval, and streak retrieval.</a:t>
            </a:r>
            <a:endParaRPr lang="en-US" sz="1250" dirty="0"/>
          </a:p>
        </p:txBody>
      </p:sp>
      <p:sp>
        <p:nvSpPr>
          <p:cNvPr id="11" name="Text 8"/>
          <p:cNvSpPr/>
          <p:nvPr/>
        </p:nvSpPr>
        <p:spPr>
          <a:xfrm>
            <a:off x="868680" y="3611880"/>
            <a:ext cx="2194560" cy="164592"/>
          </a:xfrm>
          <a:prstGeom prst="rect">
            <a:avLst/>
          </a:prstGeom>
          <a:noFill/>
          <a:ln/>
        </p:spPr>
        <p:txBody>
          <a:bodyPr wrap="square" rtlCol="0" anchor="ctr"/>
          <a:lstStyle/>
          <a:p>
            <a:pPr marL="0" indent="0">
              <a:buNone/>
            </a:pPr>
            <a:r>
              <a:rPr lang="en-US" sz="1500" b="1" dirty="0">
                <a:solidFill>
                  <a:srgbClr val="143B66"/>
                </a:solidFill>
              </a:rPr>
              <a:t>Automated test suite result</a:t>
            </a:r>
            <a:endParaRPr lang="en-US" sz="1500" dirty="0"/>
          </a:p>
        </p:txBody>
      </p:sp>
      <p:sp>
        <p:nvSpPr>
          <p:cNvPr id="12" name="Text 9"/>
          <p:cNvSpPr/>
          <p:nvPr/>
        </p:nvSpPr>
        <p:spPr>
          <a:xfrm>
            <a:off x="868680" y="3886200"/>
            <a:ext cx="4389120" cy="685800"/>
          </a:xfrm>
          <a:prstGeom prst="rect">
            <a:avLst/>
          </a:prstGeom>
          <a:noFill/>
          <a:ln/>
        </p:spPr>
        <p:txBody>
          <a:bodyPr wrap="square" rtlCol="0" anchor="ctr"/>
          <a:lstStyle/>
          <a:p>
            <a:pPr marL="0" indent="0">
              <a:buNone/>
            </a:pPr>
            <a:r>
              <a:rPr lang="en-US" sz="1300" dirty="0">
                <a:solidFill>
                  <a:srgbClr val="1F1F1F"/>
                </a:solidFill>
              </a:rPr>
              <a:t>The project includes ten passing Django tests, which made later refactoring safer and more defensible.</a:t>
            </a:r>
            <a:endParaRPr lang="en-US" sz="1300" dirty="0"/>
          </a:p>
        </p:txBody>
      </p:sp>
      <p:sp>
        <p:nvSpPr>
          <p:cNvPr id="13" name="Text 10"/>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43B66"/>
          </a:solidFill>
          <a:ln w="12700">
            <a:solidFill>
              <a:srgbClr val="143B66">
                <a:alpha val="0"/>
              </a:srgbClr>
            </a:solidFill>
            <a:prstDash val="solid"/>
          </a:ln>
        </p:spPr>
        <p:txBody>
          <a:bodyPr/>
          <a:lstStyle/>
          <a:p>
            <a:endParaRPr lang="en-GB"/>
          </a:p>
        </p:txBody>
      </p:sp>
      <p:sp>
        <p:nvSpPr>
          <p:cNvPr id="3" name="Text 1"/>
          <p:cNvSpPr/>
          <p:nvPr/>
        </p:nvSpPr>
        <p:spPr>
          <a:xfrm>
            <a:off x="502920" y="73152"/>
            <a:ext cx="2743200" cy="109728"/>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COMP3011 Coursework 1</a:t>
            </a:r>
            <a:endParaRPr lang="en-US" sz="1100" dirty="0"/>
          </a:p>
        </p:txBody>
      </p:sp>
      <p:sp>
        <p:nvSpPr>
          <p:cNvPr id="4" name="Text 2"/>
          <p:cNvSpPr/>
          <p:nvPr/>
        </p:nvSpPr>
        <p:spPr>
          <a:xfrm>
            <a:off x="502920" y="457200"/>
            <a:ext cx="8138160" cy="411480"/>
          </a:xfrm>
          <a:prstGeom prst="rect">
            <a:avLst/>
          </a:prstGeom>
          <a:noFill/>
          <a:ln/>
        </p:spPr>
        <p:txBody>
          <a:bodyPr wrap="square" lIns="0" tIns="0" rIns="0" bIns="0" rtlCol="0" anchor="ctr"/>
          <a:lstStyle/>
          <a:p>
            <a:pPr marL="0" indent="0">
              <a:buNone/>
            </a:pPr>
            <a:r>
              <a:rPr lang="en-US" sz="2500" b="1" dirty="0">
                <a:solidFill>
                  <a:srgbClr val="143B66"/>
                </a:solidFill>
                <a:latin typeface="Aptos Display" pitchFamily="34" charset="0"/>
                <a:ea typeface="Aptos Display" pitchFamily="34" charset="-122"/>
                <a:cs typeface="Aptos Display" pitchFamily="34" charset="-120"/>
              </a:rPr>
              <a:t>Reflection and GenAI use</a:t>
            </a:r>
            <a:endParaRPr lang="en-US" sz="2500" dirty="0"/>
          </a:p>
        </p:txBody>
      </p:sp>
      <p:sp>
        <p:nvSpPr>
          <p:cNvPr id="5" name="Text 3"/>
          <p:cNvSpPr/>
          <p:nvPr/>
        </p:nvSpPr>
        <p:spPr>
          <a:xfrm>
            <a:off x="502920" y="896112"/>
            <a:ext cx="8138160" cy="228600"/>
          </a:xfrm>
          <a:prstGeom prst="rect">
            <a:avLst/>
          </a:prstGeom>
          <a:noFill/>
          <a:ln/>
        </p:spPr>
        <p:txBody>
          <a:bodyPr wrap="square" lIns="0" tIns="0" rIns="0" bIns="0" rtlCol="0" anchor="ctr"/>
          <a:lstStyle/>
          <a:p>
            <a:pPr marL="0" indent="0">
              <a:buNone/>
            </a:pPr>
            <a:r>
              <a:rPr lang="en-US" sz="1150" dirty="0">
                <a:solidFill>
                  <a:srgbClr val="5C6773"/>
                </a:solidFill>
                <a:latin typeface="Aptos" pitchFamily="34" charset="0"/>
                <a:ea typeface="Aptos" pitchFamily="34" charset="-122"/>
                <a:cs typeface="Aptos" pitchFamily="34" charset="-120"/>
              </a:rPr>
              <a:t>What I would emphasise in the Q&amp;A</a:t>
            </a:r>
            <a:endParaRPr lang="en-US" sz="1150" dirty="0"/>
          </a:p>
        </p:txBody>
      </p:sp>
      <p:sp>
        <p:nvSpPr>
          <p:cNvPr id="6" name="Shape 4"/>
          <p:cNvSpPr/>
          <p:nvPr/>
        </p:nvSpPr>
        <p:spPr>
          <a:xfrm>
            <a:off x="685800" y="1371600"/>
            <a:ext cx="5486400" cy="4389120"/>
          </a:xfrm>
          <a:prstGeom prst="roundRect">
            <a:avLst>
              <a:gd name="adj" fmla="val 1042"/>
            </a:avLst>
          </a:prstGeom>
          <a:solidFill>
            <a:srgbClr val="F6F9FC"/>
          </a:solidFill>
          <a:ln w="12700">
            <a:solidFill>
              <a:srgbClr val="D9E3EE"/>
            </a:solidFill>
            <a:prstDash val="solid"/>
          </a:ln>
        </p:spPr>
        <p:txBody>
          <a:bodyPr/>
          <a:lstStyle/>
          <a:p>
            <a:endParaRPr lang="en-GB"/>
          </a:p>
        </p:txBody>
      </p:sp>
      <p:sp>
        <p:nvSpPr>
          <p:cNvPr id="7" name="Text 5"/>
          <p:cNvSpPr/>
          <p:nvPr/>
        </p:nvSpPr>
        <p:spPr>
          <a:xfrm>
            <a:off x="914400" y="1627632"/>
            <a:ext cx="2560320" cy="201168"/>
          </a:xfrm>
          <a:prstGeom prst="rect">
            <a:avLst/>
          </a:prstGeom>
          <a:noFill/>
          <a:ln/>
        </p:spPr>
        <p:txBody>
          <a:bodyPr wrap="square" rtlCol="0" anchor="ctr"/>
          <a:lstStyle/>
          <a:p>
            <a:pPr marL="0" indent="0">
              <a:buNone/>
            </a:pPr>
            <a:r>
              <a:rPr lang="en-US" sz="1800" b="1" dirty="0">
                <a:solidFill>
                  <a:srgbClr val="143B66"/>
                </a:solidFill>
              </a:rPr>
              <a:t>Key reflection points</a:t>
            </a:r>
            <a:endParaRPr lang="en-US" sz="1800" dirty="0"/>
          </a:p>
        </p:txBody>
      </p:sp>
      <p:sp>
        <p:nvSpPr>
          <p:cNvPr id="8" name="Text 6"/>
          <p:cNvSpPr/>
          <p:nvPr/>
        </p:nvSpPr>
        <p:spPr>
          <a:xfrm>
            <a:off x="960120" y="1965960"/>
            <a:ext cx="4663440" cy="2240280"/>
          </a:xfrm>
          <a:prstGeom prst="rect">
            <a:avLst/>
          </a:prstGeom>
          <a:noFill/>
          <a:ln/>
        </p:spPr>
        <p:txBody>
          <a:bodyPr wrap="square" rtlCol="0" anchor="ctr"/>
          <a:lstStyle/>
          <a:p>
            <a:pPr marL="0" indent="0">
              <a:buNone/>
            </a:pPr>
            <a:r>
              <a:rPr lang="en-US" sz="1500" dirty="0">
                <a:solidFill>
                  <a:srgbClr val="1F1F1F"/>
                </a:solidFill>
              </a:rPr>
              <a:t>• The strongest upgrade was adding HabitLog and streak analytics</a:t>
            </a:r>
            <a:endParaRPr lang="en-US" sz="1500" dirty="0"/>
          </a:p>
          <a:p>
            <a:pPr marL="0" indent="0">
              <a:buNone/>
            </a:pPr>
            <a:r>
              <a:rPr lang="en-US" sz="1500" dirty="0">
                <a:solidFill>
                  <a:srgbClr val="1F1F1F"/>
                </a:solidFill>
              </a:rPr>
              <a:t>• Helper-based refactoring improved maintainability</a:t>
            </a:r>
            <a:endParaRPr lang="en-US" sz="1500" dirty="0"/>
          </a:p>
          <a:p>
            <a:pPr marL="0" indent="0">
              <a:buNone/>
            </a:pPr>
            <a:r>
              <a:rPr lang="en-US" sz="1500" dirty="0">
                <a:solidFill>
                  <a:srgbClr val="1F1F1F"/>
                </a:solidFill>
              </a:rPr>
              <a:t>• Automated tests increased confidence after changes</a:t>
            </a:r>
            <a:endParaRPr lang="en-US" sz="1500" dirty="0"/>
          </a:p>
          <a:p>
            <a:pPr marL="0" indent="0">
              <a:buNone/>
            </a:pPr>
            <a:r>
              <a:rPr lang="en-US" sz="1500" dirty="0">
                <a:solidFill>
                  <a:srgbClr val="1F1F1F"/>
                </a:solidFill>
              </a:rPr>
              <a:t>• Current limitations: no authentication, no deployment, local prototype only</a:t>
            </a:r>
            <a:endParaRPr lang="en-US" sz="1500" dirty="0"/>
          </a:p>
        </p:txBody>
      </p:sp>
      <p:sp>
        <p:nvSpPr>
          <p:cNvPr id="9" name="Shape 7"/>
          <p:cNvSpPr/>
          <p:nvPr/>
        </p:nvSpPr>
        <p:spPr>
          <a:xfrm>
            <a:off x="6400800" y="1371600"/>
            <a:ext cx="5120640" cy="4389120"/>
          </a:xfrm>
          <a:prstGeom prst="roundRect">
            <a:avLst>
              <a:gd name="adj" fmla="val 1042"/>
            </a:avLst>
          </a:prstGeom>
          <a:solidFill>
            <a:srgbClr val="FDECD9"/>
          </a:solidFill>
          <a:ln w="12700">
            <a:solidFill>
              <a:srgbClr val="F1C79A"/>
            </a:solidFill>
            <a:prstDash val="solid"/>
          </a:ln>
        </p:spPr>
        <p:txBody>
          <a:bodyPr/>
          <a:lstStyle/>
          <a:p>
            <a:endParaRPr lang="en-GB"/>
          </a:p>
        </p:txBody>
      </p:sp>
      <p:sp>
        <p:nvSpPr>
          <p:cNvPr id="10" name="Text 8"/>
          <p:cNvSpPr/>
          <p:nvPr/>
        </p:nvSpPr>
        <p:spPr>
          <a:xfrm>
            <a:off x="6629400" y="1627632"/>
            <a:ext cx="2560320" cy="201168"/>
          </a:xfrm>
          <a:prstGeom prst="rect">
            <a:avLst/>
          </a:prstGeom>
          <a:noFill/>
          <a:ln/>
        </p:spPr>
        <p:txBody>
          <a:bodyPr wrap="square" rtlCol="0" anchor="ctr"/>
          <a:lstStyle/>
          <a:p>
            <a:pPr marL="0" indent="0">
              <a:buNone/>
            </a:pPr>
            <a:r>
              <a:rPr lang="en-US" sz="1800" b="1" dirty="0">
                <a:solidFill>
                  <a:srgbClr val="C96A1B"/>
                </a:solidFill>
              </a:rPr>
              <a:t>GenAI declaration</a:t>
            </a:r>
            <a:endParaRPr lang="en-US" sz="1800" dirty="0"/>
          </a:p>
        </p:txBody>
      </p:sp>
      <p:sp>
        <p:nvSpPr>
          <p:cNvPr id="11" name="Text 9"/>
          <p:cNvSpPr/>
          <p:nvPr/>
        </p:nvSpPr>
        <p:spPr>
          <a:xfrm>
            <a:off x="6675120" y="1965960"/>
            <a:ext cx="4526280" cy="2286000"/>
          </a:xfrm>
          <a:prstGeom prst="rect">
            <a:avLst/>
          </a:prstGeom>
          <a:noFill/>
          <a:ln/>
        </p:spPr>
        <p:txBody>
          <a:bodyPr wrap="square" rtlCol="0" anchor="ctr"/>
          <a:lstStyle/>
          <a:p>
            <a:pPr marL="0" indent="0">
              <a:buNone/>
            </a:pPr>
            <a:r>
              <a:rPr lang="en-US" sz="1500" dirty="0">
                <a:solidFill>
                  <a:srgbClr val="1F1F1F"/>
                </a:solidFill>
              </a:rPr>
              <a:t>• I brought the initial idea</a:t>
            </a:r>
            <a:endParaRPr lang="en-US" sz="1500" dirty="0"/>
          </a:p>
          <a:p>
            <a:pPr marL="0" indent="0">
              <a:buNone/>
            </a:pPr>
            <a:r>
              <a:rPr lang="en-US" sz="1500" dirty="0">
                <a:solidFill>
                  <a:srgbClr val="1F1F1F"/>
                </a:solidFill>
              </a:rPr>
              <a:t>• ChatGPT helped improve architecture, validation, tests, and documentation</a:t>
            </a:r>
            <a:endParaRPr lang="en-US" sz="1500" dirty="0"/>
          </a:p>
          <a:p>
            <a:pPr marL="0" indent="0">
              <a:buNone/>
            </a:pPr>
            <a:r>
              <a:rPr lang="en-US" sz="1500" dirty="0">
                <a:solidFill>
                  <a:srgbClr val="1F1F1F"/>
                </a:solidFill>
              </a:rPr>
              <a:t>• I manually implemented, ran, debugged, and integrated the code</a:t>
            </a:r>
            <a:endParaRPr lang="en-US" sz="1500" dirty="0"/>
          </a:p>
          <a:p>
            <a:pPr marL="0" indent="0">
              <a:buNone/>
            </a:pPr>
            <a:r>
              <a:rPr lang="en-US" sz="1500" dirty="0">
                <a:solidFill>
                  <a:srgbClr val="1F1F1F"/>
                </a:solidFill>
              </a:rPr>
              <a:t>• Appendix A in the report summarises selected conversation-log evidence</a:t>
            </a:r>
            <a:endParaRPr lang="en-US" sz="1500" dirty="0"/>
          </a:p>
        </p:txBody>
      </p:sp>
      <p:sp>
        <p:nvSpPr>
          <p:cNvPr id="12" name="Text 10"/>
          <p:cNvSpPr/>
          <p:nvPr/>
        </p:nvSpPr>
        <p:spPr>
          <a:xfrm>
            <a:off x="914400" y="5897880"/>
            <a:ext cx="10058400" cy="256032"/>
          </a:xfrm>
          <a:prstGeom prst="rect">
            <a:avLst/>
          </a:prstGeom>
          <a:noFill/>
          <a:ln/>
        </p:spPr>
        <p:txBody>
          <a:bodyPr wrap="square" rtlCol="0" anchor="ctr"/>
          <a:lstStyle/>
          <a:p>
            <a:pPr marL="0" indent="0" algn="ctr">
              <a:buNone/>
            </a:pPr>
            <a:r>
              <a:rPr lang="en-US" sz="1400" b="1" dirty="0">
                <a:solidFill>
                  <a:srgbClr val="143B66"/>
                </a:solidFill>
              </a:rPr>
              <a:t>Close: this project became a small relational analytics API rather than a basic CRUD demo.</a:t>
            </a:r>
            <a:endParaRPr lang="en-US" sz="1400" dirty="0"/>
          </a:p>
        </p:txBody>
      </p:sp>
      <p:sp>
        <p:nvSpPr>
          <p:cNvPr id="13" name="Text 11"/>
          <p:cNvSpPr/>
          <p:nvPr/>
        </p:nvSpPr>
        <p:spPr>
          <a:xfrm>
            <a:off x="11475720" y="6455664"/>
            <a:ext cx="228600" cy="128016"/>
          </a:xfrm>
          <a:prstGeom prst="rect">
            <a:avLst/>
          </a:prstGeom>
          <a:noFill/>
          <a:ln/>
        </p:spPr>
        <p:txBody>
          <a:bodyPr wrap="square" lIns="0" tIns="0" rIns="0" bIns="0" rtlCol="0" anchor="ctr"/>
          <a:lstStyle/>
          <a:p>
            <a:pPr marL="0" indent="0" algn="r">
              <a:buNone/>
            </a:pPr>
            <a:r>
              <a:rPr lang="en-US" sz="900" dirty="0">
                <a:solidFill>
                  <a:srgbClr val="5C6773"/>
                </a:solidFill>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1191</Words>
  <Application>Microsoft Office PowerPoint</Application>
  <PresentationFormat>Widescreen</PresentationFormat>
  <Paragraphs>99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Productivity and Habit Analytics API</dc:title>
  <dc:subject>COMP3011 coursework presentation</dc:subject>
  <dc:creator>OpenAI</dc:creator>
  <cp:lastModifiedBy>Yamen Alazwary [sc23yaha]</cp:lastModifiedBy>
  <cp:revision>2</cp:revision>
  <dcterms:created xsi:type="dcterms:W3CDTF">2026-03-12T22:21:10Z</dcterms:created>
  <dcterms:modified xsi:type="dcterms:W3CDTF">2026-03-12T23:09:22Z</dcterms:modified>
</cp:coreProperties>
</file>